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21"/>
  </p:notesMasterIdLst>
  <p:sldIdLst>
    <p:sldId id="257" r:id="rId3"/>
    <p:sldId id="259" r:id="rId4"/>
    <p:sldId id="275" r:id="rId5"/>
    <p:sldId id="261" r:id="rId6"/>
    <p:sldId id="282" r:id="rId7"/>
    <p:sldId id="283" r:id="rId8"/>
    <p:sldId id="262" r:id="rId9"/>
    <p:sldId id="263" r:id="rId10"/>
    <p:sldId id="264" r:id="rId11"/>
    <p:sldId id="276" r:id="rId12"/>
    <p:sldId id="277" r:id="rId13"/>
    <p:sldId id="278" r:id="rId14"/>
    <p:sldId id="279" r:id="rId15"/>
    <p:sldId id="281" r:id="rId16"/>
    <p:sldId id="280" r:id="rId17"/>
    <p:sldId id="265" r:id="rId18"/>
    <p:sldId id="266" r:id="rId19"/>
    <p:sldId id="267" r:id="rId20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00" cy="400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3827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fld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6" name="Google Shape;216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81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33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fld>
            <a:endParaRPr/>
          </a:p>
        </p:txBody>
      </p:sp>
      <p:sp>
        <p:nvSpPr>
          <p:cNvPr id="237" name="Google Shape;2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8" name="Google Shape;238;p5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55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86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fld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944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fld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660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fld>
            <a:endParaRPr/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793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fld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48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fld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80" name="Google Shape;280;p1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849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fld>
            <a:endParaRPr/>
          </a:p>
        </p:txBody>
      </p:sp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88" name="Google Shape;288;p1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45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 rot="5400000">
            <a:off x="4234694" y="3026822"/>
            <a:ext cx="57888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 rot="5400000">
            <a:off x="641146" y="702722"/>
            <a:ext cx="57888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 rot="5400000">
            <a:off x="2031162" y="1021500"/>
            <a:ext cx="4278300" cy="6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678930" y="671971"/>
            <a:ext cx="6990900" cy="3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8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672040" y="2129659"/>
            <a:ext cx="6997800" cy="28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8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800" cy="3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672042" y="4927788"/>
            <a:ext cx="69978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672041" y="5291772"/>
            <a:ext cx="69978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46" b="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>
            <a:spLocks noGrp="1"/>
          </p:cNvSpPr>
          <p:nvPr>
            <p:ph type="pic" idx="2"/>
          </p:nvPr>
        </p:nvSpPr>
        <p:spPr>
          <a:xfrm>
            <a:off x="672041" y="671971"/>
            <a:ext cx="6997800" cy="42393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72041" y="5916496"/>
            <a:ext cx="69978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672041" y="1651933"/>
            <a:ext cx="30759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3937083" y="567610"/>
            <a:ext cx="3732900" cy="60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2"/>
          </p:nvPr>
        </p:nvSpPr>
        <p:spPr>
          <a:xfrm>
            <a:off x="672041" y="3061205"/>
            <a:ext cx="3075900" cy="28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1"/>
          </p:nvPr>
        </p:nvSpPr>
        <p:spPr>
          <a:xfrm>
            <a:off x="672041" y="2382084"/>
            <a:ext cx="34074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2"/>
          </p:nvPr>
        </p:nvSpPr>
        <p:spPr>
          <a:xfrm>
            <a:off x="672041" y="3017307"/>
            <a:ext cx="3407400" cy="3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3"/>
          </p:nvPr>
        </p:nvSpPr>
        <p:spPr>
          <a:xfrm>
            <a:off x="4262702" y="2382084"/>
            <a:ext cx="34074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4"/>
          </p:nvPr>
        </p:nvSpPr>
        <p:spPr>
          <a:xfrm>
            <a:off x="4262702" y="3017307"/>
            <a:ext cx="3407400" cy="3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672042" y="2381649"/>
            <a:ext cx="3404400" cy="4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 rtl="0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 rtl="0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 rtl="0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2"/>
          </p:nvPr>
        </p:nvSpPr>
        <p:spPr>
          <a:xfrm>
            <a:off x="4265529" y="2381651"/>
            <a:ext cx="3404400" cy="4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 rtl="0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 rtl="0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 rtl="0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72040" y="2977208"/>
            <a:ext cx="6997800" cy="20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9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8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9525" y="-9525"/>
            <a:ext cx="10108886" cy="7579449"/>
            <a:chOff x="-8467" y="-8468"/>
            <a:chExt cx="9169889" cy="6875407"/>
          </a:xfrm>
        </p:grpSpPr>
        <p:sp>
          <p:nvSpPr>
            <p:cNvPr id="11" name="Google Shape;11;p1"/>
            <p:cNvSpPr/>
            <p:nvPr/>
          </p:nvSpPr>
          <p:spPr>
            <a:xfrm>
              <a:off x="-8467" y="4013672"/>
              <a:ext cx="458343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rot="10800000" flipH="1">
              <a:off x="5130869" y="4174927"/>
              <a:ext cx="4021800" cy="26829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7043180" y="172"/>
              <a:ext cx="1218300" cy="68577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" name="Google Shape;14;p1"/>
            <p:cNvSpPr/>
            <p:nvPr/>
          </p:nvSpPr>
          <p:spPr>
            <a:xfrm>
              <a:off x="6891980" y="172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204459" y="-8468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1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6638542" y="3920066"/>
              <a:ext cx="2509944" cy="29337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010060" y="-8468"/>
              <a:ext cx="2139950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295974" y="-8468"/>
              <a:ext cx="85581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094375" y="-8468"/>
              <a:ext cx="1067005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8068455" y="4893559"/>
              <a:ext cx="1092200" cy="196088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9525" y="-9525"/>
            <a:ext cx="10108886" cy="7579449"/>
            <a:chOff x="-8467" y="-8468"/>
            <a:chExt cx="9169889" cy="6875407"/>
          </a:xfrm>
        </p:grpSpPr>
        <p:sp>
          <p:nvSpPr>
            <p:cNvPr id="34" name="Google Shape;34;p3"/>
            <p:cNvSpPr/>
            <p:nvPr/>
          </p:nvSpPr>
          <p:spPr>
            <a:xfrm>
              <a:off x="-8467" y="4013672"/>
              <a:ext cx="458343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 rot="10800000" flipH="1">
              <a:off x="5130869" y="4174927"/>
              <a:ext cx="4021800" cy="26829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7043180" y="172"/>
              <a:ext cx="1218300" cy="68577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7" name="Google Shape;37;p3"/>
            <p:cNvSpPr/>
            <p:nvPr/>
          </p:nvSpPr>
          <p:spPr>
            <a:xfrm>
              <a:off x="6891980" y="172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204459" y="-8468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1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638542" y="3920066"/>
              <a:ext cx="2509944" cy="29337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010060" y="-8468"/>
              <a:ext cx="2139950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295974" y="-8468"/>
              <a:ext cx="85581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094375" y="-8468"/>
              <a:ext cx="1067005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068455" y="4893559"/>
              <a:ext cx="1092200" cy="196088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503237" y="1768475"/>
            <a:ext cx="9071100" cy="54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CALMIFY- A Stress and Anxiety Manager</a:t>
            </a:r>
            <a:endParaRPr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Ananya</a:t>
            </a:r>
            <a:r>
              <a:rPr lang="en-US" sz="32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Dongare</a:t>
            </a:r>
            <a:r>
              <a:rPr lang="en-US" sz="32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- 23106024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Arya </a:t>
            </a:r>
            <a:r>
              <a:rPr lang="en-US" sz="32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Ghole</a:t>
            </a:r>
            <a:r>
              <a:rPr lang="en-US" sz="32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-23106035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Kimaya</a:t>
            </a:r>
            <a:r>
              <a:rPr lang="en-US" sz="32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Kanyalkar</a:t>
            </a:r>
            <a:r>
              <a:rPr lang="en-US" sz="32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32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23106007</a:t>
            </a:r>
          </a:p>
          <a:p>
            <a:pPr algn="ctr">
              <a:lnSpc>
                <a:spcPct val="93000"/>
              </a:lnSpc>
              <a:buSzPts val="3200"/>
            </a:pPr>
            <a:r>
              <a:rPr lang="en-IN" sz="3200" b="1" dirty="0" err="1">
                <a:latin typeface="Times New Roman"/>
                <a:cs typeface="Times New Roman"/>
              </a:rPr>
              <a:t>Aparajit</a:t>
            </a:r>
            <a:r>
              <a:rPr lang="en-IN" sz="3200" b="1" spc="-70" dirty="0">
                <a:latin typeface="Times New Roman"/>
                <a:cs typeface="Times New Roman"/>
              </a:rPr>
              <a:t> </a:t>
            </a:r>
            <a:r>
              <a:rPr lang="en-IN" sz="3200" b="1" dirty="0" err="1">
                <a:latin typeface="Times New Roman"/>
                <a:cs typeface="Times New Roman"/>
              </a:rPr>
              <a:t>Aherkar</a:t>
            </a:r>
            <a:r>
              <a:rPr lang="en-IN" sz="3200" b="1" spc="-35" dirty="0">
                <a:latin typeface="Times New Roman"/>
                <a:cs typeface="Times New Roman"/>
              </a:rPr>
              <a:t> </a:t>
            </a:r>
            <a:r>
              <a:rPr lang="en-IN" sz="3200" b="1" dirty="0">
                <a:latin typeface="Times New Roman"/>
                <a:cs typeface="Times New Roman"/>
              </a:rPr>
              <a:t>-</a:t>
            </a:r>
            <a:r>
              <a:rPr lang="en-IN" sz="3200" b="1" spc="-65" dirty="0">
                <a:latin typeface="Times New Roman"/>
                <a:cs typeface="Times New Roman"/>
              </a:rPr>
              <a:t> </a:t>
            </a:r>
            <a:r>
              <a:rPr lang="en-IN" sz="3200" b="1" spc="-10" dirty="0">
                <a:latin typeface="Times New Roman"/>
                <a:cs typeface="Times New Roman"/>
              </a:rPr>
              <a:t>23106131</a:t>
            </a:r>
            <a:endParaRPr lang="en-IN" sz="3200" dirty="0">
              <a:latin typeface="Times New Roman"/>
              <a:cs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endParaRPr sz="3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r>
              <a:rPr lang="en-US" sz="24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400" b="1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Vijaya</a:t>
            </a:r>
            <a:r>
              <a:rPr lang="en-US" sz="24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Jagan</a:t>
            </a:r>
            <a:r>
              <a:rPr lang="en-US" sz="24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dirty="0"/>
          </a:p>
        </p:txBody>
      </p:sp>
      <p:cxnSp>
        <p:nvCxnSpPr>
          <p:cNvPr id="219" name="Google Shape;219;p24"/>
          <p:cNvCxnSpPr/>
          <p:nvPr/>
        </p:nvCxnSpPr>
        <p:spPr>
          <a:xfrm>
            <a:off x="0" y="1743075"/>
            <a:ext cx="10080600" cy="0"/>
          </a:xfrm>
          <a:prstGeom prst="straightConnector1">
            <a:avLst/>
          </a:prstGeom>
          <a:noFill/>
          <a:ln w="25400" cap="rnd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5400" dir="5400000">
              <a:srgbClr val="000000">
                <a:alpha val="34900"/>
              </a:srgbClr>
            </a:outerShdw>
          </a:effectLst>
        </p:spPr>
      </p:cxn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179387"/>
            <a:ext cx="7705724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32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412750" y="1563687"/>
            <a:ext cx="8430461" cy="5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buSzPts val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and anxiety are natural responses to challenging situations, but when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</a:p>
          <a:p>
            <a:pPr marL="342900" lvl="0" indent="-342900" algn="just">
              <a:buSzPts val="2400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become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chronic, they can lead to severe health complications such as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depression,</a:t>
            </a:r>
          </a:p>
          <a:p>
            <a:pPr marL="342900" lvl="0" indent="-342900" algn="just">
              <a:buSzPts val="2400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diseases, weakened immune systems, and cognitive impairments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2400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2000" b="1" dirty="0">
                <a:latin typeface="Times New Roman"/>
                <a:cs typeface="Times New Roman"/>
              </a:rPr>
              <a:t>Calmify</a:t>
            </a:r>
            <a:r>
              <a:rPr lang="en-US" sz="2000" b="1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wellness</a:t>
            </a:r>
            <a:r>
              <a:rPr lang="en-US" sz="2000" spc="25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platfrom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offering </a:t>
            </a:r>
            <a:r>
              <a:rPr lang="en-US" sz="2000" spc="-10" dirty="0">
                <a:latin typeface="Times New Roman"/>
                <a:cs typeface="Times New Roman"/>
              </a:rPr>
              <a:t>stress-</a:t>
            </a:r>
            <a:r>
              <a:rPr lang="en-US" sz="2000" dirty="0">
                <a:latin typeface="Times New Roman"/>
                <a:cs typeface="Times New Roman"/>
              </a:rPr>
              <a:t>relief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therapies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like</a:t>
            </a:r>
            <a:r>
              <a:rPr lang="en-US" sz="2000" spc="-10" dirty="0">
                <a:latin typeface="Times New Roman"/>
                <a:cs typeface="Times New Roman"/>
              </a:rPr>
              <a:t> yoga,</a:t>
            </a:r>
            <a:endParaRPr lang="en-US" sz="2000" dirty="0">
              <a:latin typeface="Times New Roman"/>
              <a:cs typeface="Times New Roman"/>
            </a:endParaRPr>
          </a:p>
          <a:p>
            <a:pPr marL="12700"/>
            <a:r>
              <a:rPr lang="en-US" sz="2000" dirty="0">
                <a:latin typeface="Times New Roman"/>
                <a:cs typeface="Times New Roman"/>
              </a:rPr>
              <a:t>audio,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reading</a:t>
            </a:r>
            <a:r>
              <a:rPr lang="en-US" sz="2000" spc="420" dirty="0" err="1">
                <a:latin typeface="Times New Roman"/>
                <a:cs typeface="Times New Roman"/>
              </a:rPr>
              <a:t>,</a:t>
            </a:r>
            <a:r>
              <a:rPr lang="en-US" sz="2000" dirty="0" err="1">
                <a:latin typeface="Times New Roman"/>
                <a:cs typeface="Times New Roman"/>
              </a:rPr>
              <a:t>Mental</a:t>
            </a:r>
            <a:r>
              <a:rPr lang="en-US" sz="2000" dirty="0">
                <a:latin typeface="Times New Roman"/>
                <a:cs typeface="Times New Roman"/>
              </a:rPr>
              <a:t> Health along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with</a:t>
            </a:r>
            <a:r>
              <a:rPr lang="en-US" sz="2000" spc="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doctor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consultations and our 24x7 </a:t>
            </a:r>
            <a:r>
              <a:rPr lang="en-US" sz="2000" spc="-10" dirty="0" err="1">
                <a:latin typeface="Times New Roman"/>
                <a:cs typeface="Times New Roman"/>
              </a:rPr>
              <a:t>chatbot</a:t>
            </a:r>
            <a:r>
              <a:rPr lang="en-US" sz="2000" spc="-10" dirty="0">
                <a:latin typeface="Times New Roman"/>
                <a:cs typeface="Times New Roman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spcBef>
                <a:spcPts val="1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36195"/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mission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latin typeface="Times New Roman"/>
                <a:cs typeface="Times New Roman"/>
              </a:rPr>
              <a:t>calmify</a:t>
            </a:r>
            <a:r>
              <a:rPr lang="en-US" sz="2000" b="1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project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provide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accessible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effective </a:t>
            </a:r>
            <a:r>
              <a:rPr lang="en-US" sz="2000" spc="-10" dirty="0">
                <a:latin typeface="Times New Roman"/>
                <a:cs typeface="Times New Roman"/>
              </a:rPr>
              <a:t>stress- </a:t>
            </a:r>
            <a:r>
              <a:rPr lang="en-US" sz="2000" dirty="0">
                <a:latin typeface="Times New Roman"/>
                <a:cs typeface="Times New Roman"/>
              </a:rPr>
              <a:t>relief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solutions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through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various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therapies,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promoting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mental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well-</a:t>
            </a:r>
            <a:r>
              <a:rPr lang="en-US" sz="2000" dirty="0">
                <a:latin typeface="Times New Roman"/>
                <a:cs typeface="Times New Roman"/>
              </a:rPr>
              <a:t>being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for </a:t>
            </a:r>
            <a:r>
              <a:rPr lang="en-US" sz="2000" dirty="0">
                <a:latin typeface="Times New Roman"/>
                <a:cs typeface="Times New Roman"/>
              </a:rPr>
              <a:t>people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ages.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aims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create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supportive</a:t>
            </a:r>
            <a:r>
              <a:rPr lang="en-US" sz="2000" spc="1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community</a:t>
            </a:r>
            <a:r>
              <a:rPr lang="en-US" sz="2000" spc="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by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offering </a:t>
            </a:r>
            <a:r>
              <a:rPr lang="en-US" sz="2000" dirty="0">
                <a:latin typeface="Times New Roman"/>
                <a:cs typeface="Times New Roman"/>
              </a:rPr>
              <a:t>resources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like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yoga,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meditation</a:t>
            </a:r>
            <a:r>
              <a:rPr lang="en-US" sz="2000" spc="-45" dirty="0" smtClean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professional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consultations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24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/>
        </p:nvSpPr>
        <p:spPr>
          <a:xfrm>
            <a:off x="5032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 of </a:t>
            </a: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Existing System</a:t>
            </a:r>
            <a:endParaRPr dirty="0"/>
          </a:p>
        </p:txBody>
      </p:sp>
      <p:sp>
        <p:nvSpPr>
          <p:cNvPr id="241" name="Google Shape;241;p27"/>
          <p:cNvSpPr txBox="1"/>
          <p:nvPr/>
        </p:nvSpPr>
        <p:spPr>
          <a:xfrm>
            <a:off x="503237" y="1768475"/>
            <a:ext cx="8441980" cy="49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264795" indent="-252095">
              <a:spcBef>
                <a:spcPts val="815"/>
              </a:spcBef>
              <a:buFont typeface="Times New Roman"/>
              <a:buAutoNum type="arabicPeriod"/>
              <a:tabLst>
                <a:tab pos="264795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Headspace</a:t>
            </a:r>
            <a:r>
              <a:rPr lang="en-US" sz="2000" b="1" spc="-5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&amp;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Calm</a:t>
            </a:r>
            <a:r>
              <a:rPr lang="en-US" sz="2000" b="1" spc="-5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(Popular</a:t>
            </a:r>
            <a:r>
              <a:rPr lang="en-US" sz="2000" b="1" spc="-5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meditation</a:t>
            </a:r>
            <a:r>
              <a:rPr lang="en-US" sz="2000" b="1" spc="-4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and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mindfulness </a:t>
            </a:r>
            <a:r>
              <a:rPr lang="en-US" sz="2000" b="1" spc="-10" dirty="0">
                <a:latin typeface="Times New Roman"/>
                <a:cs typeface="Times New Roman"/>
              </a:rPr>
              <a:t>apps)</a:t>
            </a:r>
            <a:endParaRPr lang="en-US" sz="2000" dirty="0">
              <a:latin typeface="Times New Roman"/>
              <a:cs typeface="Times New Roman"/>
            </a:endParaRPr>
          </a:p>
          <a:p>
            <a:pPr marL="417830" lvl="1" indent="-405130">
              <a:spcBef>
                <a:spcPts val="720"/>
              </a:spcBef>
              <a:buFont typeface="Tahoma"/>
              <a:buChar char="•"/>
              <a:tabLst>
                <a:tab pos="41783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Limitation: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Lack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personalization;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generic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content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that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may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not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cater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to</a:t>
            </a:r>
            <a:endParaRPr lang="en-US" sz="2000" dirty="0">
              <a:latin typeface="Times New Roman"/>
              <a:cs typeface="Times New Roman"/>
            </a:endParaRPr>
          </a:p>
          <a:p>
            <a:pPr marL="457834">
              <a:spcBef>
                <a:spcPts val="700"/>
              </a:spcBef>
            </a:pPr>
            <a:r>
              <a:rPr lang="en-US" sz="2000" dirty="0">
                <a:latin typeface="Times New Roman"/>
                <a:cs typeface="Times New Roman"/>
              </a:rPr>
              <a:t>individual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stress-</a:t>
            </a:r>
            <a:r>
              <a:rPr lang="en-US" sz="2000" dirty="0">
                <a:latin typeface="Times New Roman"/>
                <a:cs typeface="Times New Roman"/>
              </a:rPr>
              <a:t>relief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needs.</a:t>
            </a:r>
            <a:endParaRPr lang="en-US" sz="2000" dirty="0">
              <a:latin typeface="Times New Roman"/>
              <a:cs typeface="Times New Roman"/>
            </a:endParaRPr>
          </a:p>
          <a:p>
            <a:pPr marL="265430" indent="-252729">
              <a:spcBef>
                <a:spcPts val="695"/>
              </a:spcBef>
              <a:buFont typeface="Times New Roman"/>
              <a:buAutoNum type="arabicPeriod" startAt="2"/>
              <a:tabLst>
                <a:tab pos="265430" algn="l"/>
              </a:tabLst>
            </a:pPr>
            <a:r>
              <a:rPr lang="en-US" sz="2000" b="1" dirty="0" smtClean="0">
                <a:latin typeface="Times New Roman"/>
                <a:cs typeface="Times New Roman"/>
              </a:rPr>
              <a:t>Better Help</a:t>
            </a:r>
            <a:r>
              <a:rPr lang="en-US" sz="2000" b="1" spc="-75" dirty="0" smtClean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&amp;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spc="-10" dirty="0" err="1">
                <a:latin typeface="Times New Roman"/>
                <a:cs typeface="Times New Roman"/>
              </a:rPr>
              <a:t>Talkspace</a:t>
            </a:r>
            <a:endParaRPr lang="en-US" sz="2000" dirty="0">
              <a:latin typeface="Times New Roman"/>
              <a:cs typeface="Times New Roman"/>
            </a:endParaRPr>
          </a:p>
          <a:p>
            <a:pPr marL="353695" lvl="1" indent="-340995">
              <a:spcBef>
                <a:spcPts val="700"/>
              </a:spcBef>
              <a:buFont typeface="Tahoma"/>
              <a:buChar char="•"/>
              <a:tabLst>
                <a:tab pos="35369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Limitation: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Paid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subscription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required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therapy,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making</a:t>
            </a:r>
            <a:r>
              <a:rPr lang="en-US" sz="2000" spc="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less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accessible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to</a:t>
            </a:r>
            <a:endParaRPr lang="en-US" sz="2000" dirty="0">
              <a:latin typeface="Times New Roman"/>
              <a:cs typeface="Times New Roman"/>
            </a:endParaRPr>
          </a:p>
          <a:p>
            <a:pPr marL="353695"/>
            <a:r>
              <a:rPr lang="en-US" sz="2000" dirty="0">
                <a:latin typeface="Times New Roman"/>
                <a:cs typeface="Times New Roman"/>
              </a:rPr>
              <a:t>many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users.</a:t>
            </a:r>
            <a:endParaRPr lang="en-US" sz="2000" dirty="0">
              <a:latin typeface="Times New Roman"/>
              <a:cs typeface="Times New Roman"/>
            </a:endParaRPr>
          </a:p>
          <a:p>
            <a:pPr marL="264795" indent="-252095">
              <a:spcBef>
                <a:spcPts val="700"/>
              </a:spcBef>
              <a:buFont typeface="Times New Roman"/>
              <a:buAutoNum type="arabicPeriod" startAt="3"/>
              <a:tabLst>
                <a:tab pos="264795" algn="l"/>
              </a:tabLst>
            </a:pPr>
            <a:r>
              <a:rPr lang="en-US" sz="2000" b="1" dirty="0" err="1">
                <a:latin typeface="Times New Roman"/>
                <a:cs typeface="Times New Roman"/>
              </a:rPr>
              <a:t>Sanvello</a:t>
            </a:r>
            <a:r>
              <a:rPr lang="en-US" sz="2000" b="1" spc="-5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&amp;</a:t>
            </a:r>
            <a:r>
              <a:rPr lang="en-US" sz="2000" b="1" spc="-35" dirty="0">
                <a:latin typeface="Times New Roman"/>
                <a:cs typeface="Times New Roman"/>
              </a:rPr>
              <a:t> </a:t>
            </a:r>
            <a:r>
              <a:rPr lang="en-US" sz="2000" b="1" spc="-10" dirty="0" err="1">
                <a:latin typeface="Times New Roman"/>
                <a:cs typeface="Times New Roman"/>
              </a:rPr>
              <a:t>Moodfit</a:t>
            </a:r>
            <a:endParaRPr lang="en-US" sz="2000" dirty="0">
              <a:latin typeface="Times New Roman"/>
              <a:cs typeface="Times New Roman"/>
            </a:endParaRPr>
          </a:p>
          <a:p>
            <a:pPr marL="353695" lvl="1" indent="-340995">
              <a:spcBef>
                <a:spcPts val="695"/>
              </a:spcBef>
              <a:buFont typeface="Tahoma"/>
              <a:buChar char="•"/>
              <a:tabLst>
                <a:tab pos="35369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Limitation: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Focus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heavily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on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self-</a:t>
            </a:r>
            <a:r>
              <a:rPr lang="en-US" sz="2000" dirty="0">
                <a:latin typeface="Times New Roman"/>
                <a:cs typeface="Times New Roman"/>
              </a:rPr>
              <a:t>tracking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cognitive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exercises,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which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may</a:t>
            </a:r>
            <a:endParaRPr lang="en-US" sz="2000" dirty="0">
              <a:latin typeface="Times New Roman"/>
              <a:cs typeface="Times New Roman"/>
            </a:endParaRPr>
          </a:p>
          <a:p>
            <a:pPr marL="353695"/>
            <a:r>
              <a:rPr lang="en-US" sz="2000" dirty="0">
                <a:latin typeface="Times New Roman"/>
                <a:cs typeface="Times New Roman"/>
              </a:rPr>
              <a:t>not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be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engaging</a:t>
            </a:r>
            <a:r>
              <a:rPr lang="en-US" sz="2000" spc="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users</a:t>
            </a:r>
            <a:endParaRPr lang="en-US" sz="2000" dirty="0">
              <a:latin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SzPts val="24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38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>
            <a:spLocks noGrp="1"/>
          </p:cNvSpPr>
          <p:nvPr>
            <p:ph type="title"/>
          </p:nvPr>
        </p:nvSpPr>
        <p:spPr>
          <a:xfrm>
            <a:off x="215900" y="671512"/>
            <a:ext cx="74532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 </a:t>
            </a:r>
            <a:endParaRPr dirty="0"/>
          </a:p>
        </p:txBody>
      </p:sp>
      <p:sp>
        <p:nvSpPr>
          <p:cNvPr id="247" name="Google Shape;247;p28"/>
          <p:cNvSpPr txBox="1">
            <a:spLocks noGrp="1"/>
          </p:cNvSpPr>
          <p:nvPr>
            <p:ph type="body" idx="1"/>
          </p:nvPr>
        </p:nvSpPr>
        <p:spPr>
          <a:xfrm>
            <a:off x="215900" y="1835150"/>
            <a:ext cx="8640900" cy="5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6870" indent="-344170">
              <a:spcBef>
                <a:spcPts val="1200"/>
              </a:spcBef>
              <a:buClr>
                <a:srgbClr val="5FCAEE"/>
              </a:buClr>
              <a:buSzPct val="50000"/>
              <a:buFont typeface="Tahoma"/>
              <a:buChar char="►"/>
              <a:tabLst>
                <a:tab pos="35687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Rising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Stress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Issues: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People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struggle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with</a:t>
            </a:r>
            <a:r>
              <a:rPr lang="en-US" sz="2000" spc="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stress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daily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life.</a:t>
            </a:r>
            <a:endParaRPr lang="en-US" sz="20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1105"/>
              </a:spcBef>
              <a:buClr>
                <a:srgbClr val="5FCAEE"/>
              </a:buClr>
              <a:buSzPct val="50000"/>
              <a:buFont typeface="Tahoma"/>
              <a:buChar char="►"/>
              <a:tabLst>
                <a:tab pos="35687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Limited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Free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Mental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Health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Support: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Many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platforms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require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paid </a:t>
            </a:r>
            <a:r>
              <a:rPr lang="en-US" sz="2000" spc="-10" dirty="0">
                <a:latin typeface="Times New Roman"/>
                <a:cs typeface="Times New Roman"/>
              </a:rPr>
              <a:t>access.</a:t>
            </a:r>
            <a:endParaRPr lang="en-US" sz="20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1105"/>
              </a:spcBef>
              <a:buClr>
                <a:srgbClr val="5FCAEE"/>
              </a:buClr>
              <a:buSzPct val="50000"/>
              <a:buFont typeface="Tahoma"/>
              <a:buChar char="►"/>
              <a:tabLst>
                <a:tab pos="356870" algn="l"/>
              </a:tabLst>
            </a:pPr>
            <a:r>
              <a:rPr lang="en-US" sz="2000" spc="-25" dirty="0">
                <a:latin typeface="Times New Roman"/>
                <a:cs typeface="Times New Roman"/>
              </a:rPr>
              <a:t>One-</a:t>
            </a:r>
            <a:r>
              <a:rPr lang="en-US" sz="2000" spc="-20" dirty="0">
                <a:latin typeface="Times New Roman"/>
                <a:cs typeface="Times New Roman"/>
              </a:rPr>
              <a:t>Size-</a:t>
            </a:r>
            <a:r>
              <a:rPr lang="en-US" sz="2000" spc="-10" dirty="0">
                <a:latin typeface="Times New Roman"/>
                <a:cs typeface="Times New Roman"/>
              </a:rPr>
              <a:t>Fits-</a:t>
            </a:r>
            <a:r>
              <a:rPr lang="en-US" sz="2000" dirty="0">
                <a:latin typeface="Times New Roman"/>
                <a:cs typeface="Times New Roman"/>
              </a:rPr>
              <a:t>All</a:t>
            </a:r>
            <a:r>
              <a:rPr lang="en-US" sz="2000" spc="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Approach: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Existing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solutions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lack</a:t>
            </a:r>
            <a:r>
              <a:rPr lang="en-US" sz="2000" spc="-10" dirty="0">
                <a:latin typeface="Times New Roman"/>
                <a:cs typeface="Times New Roman"/>
              </a:rPr>
              <a:t> personalization.</a:t>
            </a:r>
            <a:endParaRPr lang="en-US" sz="20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1080"/>
              </a:spcBef>
              <a:buClr>
                <a:srgbClr val="5FCAEE"/>
              </a:buClr>
              <a:buSzPct val="50000"/>
              <a:buFont typeface="Tahoma"/>
              <a:buChar char="►"/>
              <a:tabLst>
                <a:tab pos="35687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Low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Engagement:</a:t>
            </a:r>
            <a:r>
              <a:rPr lang="en-US" sz="2000" spc="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Apps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fail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keep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consistently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involved.</a:t>
            </a:r>
            <a:endParaRPr lang="en-US" sz="20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1105"/>
              </a:spcBef>
              <a:buClr>
                <a:srgbClr val="5FCAEE"/>
              </a:buClr>
              <a:buSzPct val="50000"/>
              <a:buFont typeface="Tahoma"/>
              <a:buChar char="►"/>
              <a:tabLst>
                <a:tab pos="35687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Missing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Holistic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Therapies: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Existing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systems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ignore</a:t>
            </a:r>
            <a:r>
              <a:rPr lang="en-US" sz="2000" spc="-60" dirty="0" smtClean="0">
                <a:latin typeface="Times New Roman"/>
                <a:cs typeface="Times New Roman"/>
              </a:rPr>
              <a:t> audio,</a:t>
            </a:r>
            <a:r>
              <a:rPr lang="en-US" sz="2000" spc="-40" dirty="0" smtClean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reading,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and</a:t>
            </a:r>
            <a:endParaRPr lang="en-US" sz="2000" dirty="0">
              <a:latin typeface="Times New Roman"/>
              <a:cs typeface="Times New Roman"/>
            </a:endParaRPr>
          </a:p>
          <a:p>
            <a:pPr marL="356870"/>
            <a:r>
              <a:rPr lang="en-US" sz="2000" dirty="0">
                <a:latin typeface="Times New Roman"/>
                <a:cs typeface="Times New Roman"/>
              </a:rPr>
              <a:t>spiritual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healing.</a:t>
            </a:r>
            <a:endParaRPr lang="en-US" sz="2000" dirty="0">
              <a:latin typeface="Times New Roman"/>
              <a:cs typeface="Times New Roman"/>
            </a:endParaRPr>
          </a:p>
          <a:p>
            <a:pPr marL="21590">
              <a:spcBef>
                <a:spcPts val="915"/>
              </a:spcBef>
            </a:pPr>
            <a:r>
              <a:rPr lang="en-US" sz="2000" dirty="0" smtClean="0">
                <a:latin typeface="Times New Roman"/>
                <a:cs typeface="Times New Roman"/>
              </a:rPr>
              <a:t>Calmify</a:t>
            </a:r>
            <a:r>
              <a:rPr lang="en-US" sz="2000" spc="-20" dirty="0" smtClean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solves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these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problems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with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diverse,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engaging,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free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stress-</a:t>
            </a:r>
            <a:r>
              <a:rPr lang="en-US" sz="2000" spc="-10" dirty="0">
                <a:latin typeface="Times New Roman"/>
                <a:cs typeface="Times New Roman"/>
              </a:rPr>
              <a:t>relief</a:t>
            </a:r>
            <a:endParaRPr lang="en-US" sz="2000" dirty="0">
              <a:latin typeface="Times New Roman"/>
              <a:cs typeface="Times New Roman"/>
            </a:endParaRPr>
          </a:p>
          <a:p>
            <a:pPr marL="21590"/>
            <a:r>
              <a:rPr lang="en-US" sz="2000" spc="-10" dirty="0">
                <a:latin typeface="Times New Roman"/>
                <a:cs typeface="Times New Roman"/>
              </a:rPr>
              <a:t>options.</a:t>
            </a:r>
            <a:endParaRPr lang="en-US" sz="2000" dirty="0">
              <a:latin typeface="Times New Roman"/>
              <a:cs typeface="Times New Roman"/>
            </a:endParaRPr>
          </a:p>
          <a:p>
            <a:pPr lvl="0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63286"/>
            <a:ext cx="7669312" cy="751114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585506"/>
              </p:ext>
            </p:extLst>
          </p:nvPr>
        </p:nvGraphicFramePr>
        <p:xfrm>
          <a:off x="250371" y="729343"/>
          <a:ext cx="8150151" cy="5406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17"/>
                <a:gridCol w="2716717"/>
                <a:gridCol w="2716717"/>
              </a:tblGrid>
              <a:tr h="620486"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Research Paper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Summary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Key Factors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72339">
                <a:tc>
                  <a:txBody>
                    <a:bodyPr/>
                    <a:lstStyle/>
                    <a:p>
                      <a:pPr marL="99695" marR="10287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“Managing Anxiety and Stress Holistically: Vedic Wisdom from the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Purna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Health Management System”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Determine which of four  key factors correlate with participants' overall stress levels, stress management abilities, and mental/emotional health outcomes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695" marR="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1.Health, Fitness, and Nutrition (HF&amp;N)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9695" marR="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2.Life Balance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9695" marR="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3.Spiritual Growth and Development (SG&amp;D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99695" marR="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4.Living in Harmony with the Natural Environment to Support Health (LHWNE):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</a:tr>
              <a:tr h="1972339"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"Stress and Epilepsy: Towards Understanding of Neurobiological Mechanisms for Better Management”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695" marR="10287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Explains importance of integrated management approaches to improve outcomes for individuals affected by both conditions.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317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1.Impact of Stress on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Epilepsy</a:t>
                      </a:r>
                    </a:p>
                    <a:p>
                      <a:pPr marL="0" marR="0" indent="317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2.Neurobiological Mechanisms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06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63286"/>
            <a:ext cx="7669312" cy="751114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74625"/>
              </p:ext>
            </p:extLst>
          </p:nvPr>
        </p:nvGraphicFramePr>
        <p:xfrm>
          <a:off x="250371" y="729343"/>
          <a:ext cx="9330951" cy="6413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317"/>
                <a:gridCol w="3110317"/>
                <a:gridCol w="3110317"/>
              </a:tblGrid>
              <a:tr h="435678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cap="none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Research Paper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cap="none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Summary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cap="none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Key Factors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88950">
                <a:tc>
                  <a:txBody>
                    <a:bodyPr/>
                    <a:lstStyle/>
                    <a:p>
                      <a:pPr marL="99695" marR="10287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"A Systematic Review of Technology-Aided Stress Management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9695" marR="10287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marL="99695" marR="10287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comprehensive analysis of technological</a:t>
                      </a:r>
                    </a:p>
                    <a:p>
                      <a:pPr marL="99695" marR="10287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tools utilized in stress management, with a particular focus on feedback</a:t>
                      </a:r>
                    </a:p>
                    <a:p>
                      <a:pPr marL="99695" marR="10287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control systems encompassing detection, control, and intervention phases.</a:t>
                      </a: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Physiological Variables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  <a:endParaRPr lang="en-IN" sz="1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+mj-lt"/>
                        <a:buAutoNum type="arabicPeriod"/>
                      </a:pPr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Feedback Control System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</a:tr>
              <a:tr h="2988950">
                <a:tc>
                  <a:txBody>
                    <a:bodyPr/>
                    <a:lstStyle/>
                    <a:p>
                      <a:pPr marL="99695" marR="10287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"Mobile Applications for stress management".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9695" marR="102870" indent="317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authors highlight that traditional methods for stress reduction include counseling, training, and exercise. However, with technological advancements, mobile applications have emerged as innovative tools for stress management.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9695" marR="0" indent="6032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1.Accessibility</a:t>
                      </a:r>
                      <a:r>
                        <a:rPr lang="en-US" sz="1800" baseline="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Convenience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9695" marR="0" indent="6032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2.Diverse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  <a:p>
                      <a:pPr marL="99695" marR="0" indent="6032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3.Personalization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62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/>
        </p:nvSpPr>
        <p:spPr>
          <a:xfrm>
            <a:off x="241980" y="0"/>
            <a:ext cx="9071100" cy="68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dirty="0"/>
          </a:p>
        </p:txBody>
      </p:sp>
      <p:sp>
        <p:nvSpPr>
          <p:cNvPr id="254" name="Google Shape;254;p29"/>
          <p:cNvSpPr txBox="1"/>
          <p:nvPr/>
        </p:nvSpPr>
        <p:spPr>
          <a:xfrm>
            <a:off x="503237" y="1768475"/>
            <a:ext cx="9071100" cy="49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689431"/>
            <a:ext cx="7783286" cy="6772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/>
        </p:nvSpPr>
        <p:spPr>
          <a:xfrm>
            <a:off x="5032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and Methodologies</a:t>
            </a:r>
            <a:endParaRPr/>
          </a:p>
        </p:txBody>
      </p:sp>
      <p:sp>
        <p:nvSpPr>
          <p:cNvPr id="262" name="Google Shape;262;p30"/>
          <p:cNvSpPr txBox="1"/>
          <p:nvPr/>
        </p:nvSpPr>
        <p:spPr>
          <a:xfrm>
            <a:off x="393700" y="1835150"/>
            <a:ext cx="9180600" cy="56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spcBef>
                <a:spcPts val="11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56870" indent="-344170">
              <a:buFont typeface="Tahoma"/>
              <a:buChar char="•"/>
              <a:tabLst>
                <a:tab pos="35687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Frontend:</a:t>
            </a:r>
            <a:r>
              <a:rPr lang="en-IN" sz="2000" b="1" spc="-6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HTML,</a:t>
            </a:r>
            <a:r>
              <a:rPr lang="en-IN" sz="2000" spc="-5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CSS,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JavaScript</a:t>
            </a:r>
            <a:endParaRPr lang="en-IN" sz="20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5"/>
              </a:spcBef>
              <a:buFont typeface="Tahoma"/>
              <a:buChar char="•"/>
              <a:tabLst>
                <a:tab pos="35687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Backend</a:t>
            </a:r>
            <a:r>
              <a:rPr lang="en-IN" sz="2000" dirty="0">
                <a:latin typeface="Times New Roman"/>
                <a:cs typeface="Times New Roman"/>
              </a:rPr>
              <a:t>: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 err="1" smtClean="0">
                <a:latin typeface="Times New Roman"/>
                <a:cs typeface="Times New Roman"/>
              </a:rPr>
              <a:t>Xamp</a:t>
            </a:r>
            <a:r>
              <a:rPr lang="en-IN" sz="2000" dirty="0" smtClean="0">
                <a:latin typeface="Times New Roman"/>
                <a:cs typeface="Times New Roman"/>
              </a:rPr>
              <a:t> , PHP(Hyper Text Pre-processor)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spcBef>
                <a:spcPts val="105"/>
              </a:spcBef>
              <a:buFont typeface="Tahoma"/>
              <a:buChar char="•"/>
            </a:pPr>
            <a:endParaRPr lang="en-IN" sz="2000" dirty="0">
              <a:latin typeface="Times New Roman"/>
              <a:cs typeface="Times New Roman"/>
            </a:endParaRPr>
          </a:p>
          <a:p>
            <a:pPr marL="12700">
              <a:spcBef>
                <a:spcPts val="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Methodologies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spcBef>
                <a:spcPts val="11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463550" marR="2637155" lvl="1" indent="-287020">
              <a:spcBef>
                <a:spcPts val="5"/>
              </a:spcBef>
              <a:buFont typeface="Tahoma"/>
              <a:buChar char="•"/>
              <a:tabLst>
                <a:tab pos="46355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Problem</a:t>
            </a:r>
            <a:r>
              <a:rPr lang="en-IN" sz="2000" spc="-8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Identification</a:t>
            </a:r>
            <a:r>
              <a:rPr lang="en-IN" sz="2000" spc="-8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Identified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the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need</a:t>
            </a:r>
            <a:r>
              <a:rPr lang="en-IN" sz="2000" spc="-1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for</a:t>
            </a:r>
            <a:r>
              <a:rPr lang="en-IN" sz="2000" spc="-7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free, </a:t>
            </a:r>
            <a:r>
              <a:rPr lang="en-IN" sz="2000" dirty="0">
                <a:latin typeface="Times New Roman"/>
                <a:cs typeface="Times New Roman"/>
              </a:rPr>
              <a:t>personalized</a:t>
            </a:r>
            <a:r>
              <a:rPr lang="en-IN" sz="2000" spc="-8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stress</a:t>
            </a:r>
            <a:r>
              <a:rPr lang="en-IN" sz="2000" spc="-6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management.</a:t>
            </a:r>
            <a:endParaRPr lang="en-IN" sz="2000" dirty="0">
              <a:latin typeface="Times New Roman"/>
              <a:cs typeface="Times New Roman"/>
            </a:endParaRPr>
          </a:p>
          <a:p>
            <a:pPr marL="463550" lvl="1" indent="-286385">
              <a:buFont typeface="Tahoma"/>
              <a:buChar char="•"/>
              <a:tabLst>
                <a:tab pos="46355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Requirement</a:t>
            </a:r>
            <a:r>
              <a:rPr lang="en-IN" sz="2000" spc="-1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Analysis</a:t>
            </a:r>
            <a:r>
              <a:rPr lang="en-IN" sz="2000" spc="2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lang="en-IN" sz="2000" spc="-7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Defined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key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features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like</a:t>
            </a:r>
            <a:r>
              <a:rPr lang="en-IN" sz="2000" spc="-7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therapy</a:t>
            </a:r>
            <a:endParaRPr lang="en-IN" sz="2000" dirty="0">
              <a:latin typeface="Times New Roman"/>
              <a:cs typeface="Times New Roman"/>
            </a:endParaRPr>
          </a:p>
          <a:p>
            <a:pPr marL="463550"/>
            <a:r>
              <a:rPr lang="en-IN" sz="2000" dirty="0">
                <a:latin typeface="Times New Roman"/>
                <a:cs typeface="Times New Roman"/>
              </a:rPr>
              <a:t>options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and</a:t>
            </a:r>
            <a:r>
              <a:rPr lang="en-IN" sz="2000" spc="-2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consultations.</a:t>
            </a:r>
            <a:endParaRPr lang="en-IN" sz="2000" dirty="0">
              <a:latin typeface="Times New Roman"/>
              <a:cs typeface="Times New Roman"/>
            </a:endParaRPr>
          </a:p>
          <a:p>
            <a:pPr marL="463550" lvl="1" indent="-286385">
              <a:buFont typeface="Tahoma"/>
              <a:buChar char="•"/>
              <a:tabLst>
                <a:tab pos="46355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Technology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Selection</a:t>
            </a:r>
            <a:r>
              <a:rPr lang="en-IN" sz="2000" spc="-5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lang="en-IN" sz="2000" spc="-6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Used</a:t>
            </a:r>
            <a:r>
              <a:rPr lang="en-IN" sz="2000" spc="-6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HTML,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CSS,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 err="1" smtClean="0">
                <a:latin typeface="Times New Roman"/>
                <a:cs typeface="Times New Roman"/>
              </a:rPr>
              <a:t>Javascript</a:t>
            </a:r>
            <a:r>
              <a:rPr lang="en-IN" sz="2000" spc="-75" dirty="0" smtClean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(Frontend),</a:t>
            </a:r>
            <a:r>
              <a:rPr lang="en-IN" sz="2000" spc="-55" dirty="0">
                <a:latin typeface="Times New Roman"/>
                <a:cs typeface="Times New Roman"/>
              </a:rPr>
              <a:t> </a:t>
            </a:r>
            <a:r>
              <a:rPr lang="en-IN" sz="2000" spc="-55" dirty="0" err="1" smtClean="0">
                <a:latin typeface="Times New Roman"/>
                <a:cs typeface="Times New Roman"/>
              </a:rPr>
              <a:t>Xamp,PHP</a:t>
            </a:r>
            <a:endParaRPr lang="en-IN" sz="2000" dirty="0">
              <a:latin typeface="Times New Roman"/>
              <a:cs typeface="Times New Roman"/>
            </a:endParaRPr>
          </a:p>
          <a:p>
            <a:pPr marL="463550">
              <a:spcBef>
                <a:spcPts val="5"/>
              </a:spcBef>
            </a:pPr>
            <a:r>
              <a:rPr lang="en-IN" sz="2000" dirty="0">
                <a:latin typeface="Times New Roman"/>
                <a:cs typeface="Times New Roman"/>
              </a:rPr>
              <a:t>(Backend</a:t>
            </a:r>
            <a:r>
              <a:rPr lang="en-IN" sz="2000" dirty="0" smtClean="0">
                <a:latin typeface="Times New Roman"/>
                <a:cs typeface="Times New Roman"/>
              </a:rPr>
              <a:t>),local storage(hosting)</a:t>
            </a:r>
            <a:endParaRPr lang="en-IN" sz="2000" dirty="0">
              <a:latin typeface="Times New Roman"/>
              <a:cs typeface="Times New Roman"/>
            </a:endParaRPr>
          </a:p>
          <a:p>
            <a:pPr marL="463550" lvl="1" indent="-286385">
              <a:buFont typeface="Tahoma"/>
              <a:buChar char="•"/>
              <a:tabLst>
                <a:tab pos="46355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System Design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Developed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a</a:t>
            </a:r>
            <a:r>
              <a:rPr lang="en-IN" sz="2000" spc="-65" dirty="0">
                <a:latin typeface="Times New Roman"/>
                <a:cs typeface="Times New Roman"/>
              </a:rPr>
              <a:t> </a:t>
            </a:r>
            <a:r>
              <a:rPr lang="en-IN" sz="2000" spc="-20" dirty="0">
                <a:latin typeface="Times New Roman"/>
                <a:cs typeface="Times New Roman"/>
              </a:rPr>
              <a:t>user-</a:t>
            </a:r>
            <a:r>
              <a:rPr lang="en-IN" sz="2000" dirty="0">
                <a:latin typeface="Times New Roman"/>
                <a:cs typeface="Times New Roman"/>
              </a:rPr>
              <a:t>friendly</a:t>
            </a:r>
            <a:r>
              <a:rPr lang="en-IN" sz="2000" spc="-2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interface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and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structured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backend.</a:t>
            </a:r>
            <a:endParaRPr lang="en-IN" sz="2000" dirty="0">
              <a:latin typeface="Times New Roman"/>
              <a:cs typeface="Times New Roman"/>
            </a:endParaRPr>
          </a:p>
          <a:p>
            <a:pPr marL="463550" lvl="1" indent="-286385">
              <a:buFont typeface="Tahoma"/>
              <a:buChar char="•"/>
              <a:tabLst>
                <a:tab pos="46355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Implementation –</a:t>
            </a:r>
            <a:r>
              <a:rPr lang="en-IN" sz="2000" spc="-7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Integrated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therapy</a:t>
            </a:r>
            <a:r>
              <a:rPr lang="en-IN" sz="2000" spc="-5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modules,</a:t>
            </a:r>
            <a:r>
              <a:rPr lang="en-IN" sz="2000" spc="-1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consultations,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/>
        </p:nvSpPr>
        <p:spPr>
          <a:xfrm>
            <a:off x="873352" y="174171"/>
            <a:ext cx="4645706" cy="58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5"/>
          <a:stretch/>
        </p:blipFill>
        <p:spPr>
          <a:xfrm>
            <a:off x="3094033" y="4691743"/>
            <a:ext cx="6600887" cy="27264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9" y="868948"/>
            <a:ext cx="6261877" cy="3287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4" r="428"/>
          <a:stretch/>
        </p:blipFill>
        <p:spPr>
          <a:xfrm>
            <a:off x="337456" y="859970"/>
            <a:ext cx="9377450" cy="43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5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01"/>
          <a:stretch/>
        </p:blipFill>
        <p:spPr>
          <a:xfrm>
            <a:off x="239485" y="784609"/>
            <a:ext cx="7150023" cy="29391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" t="20173" r="216" b="2729"/>
          <a:stretch/>
        </p:blipFill>
        <p:spPr>
          <a:xfrm>
            <a:off x="2177143" y="4397829"/>
            <a:ext cx="7073151" cy="28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9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" t="10897" r="5195" b="-1"/>
          <a:stretch/>
        </p:blipFill>
        <p:spPr>
          <a:xfrm>
            <a:off x="228600" y="145630"/>
            <a:ext cx="6981072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" t="11308"/>
          <a:stretch/>
        </p:blipFill>
        <p:spPr>
          <a:xfrm>
            <a:off x="2090057" y="3930299"/>
            <a:ext cx="7347858" cy="348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2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8" t="10896" r="5411"/>
          <a:stretch/>
        </p:blipFill>
        <p:spPr>
          <a:xfrm>
            <a:off x="185058" y="362303"/>
            <a:ext cx="6671472" cy="35296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" t="9453" r="4328" b="2524"/>
          <a:stretch/>
        </p:blipFill>
        <p:spPr>
          <a:xfrm>
            <a:off x="2296886" y="3891921"/>
            <a:ext cx="6988629" cy="358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0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9" t="12133" r="5519" b="462"/>
          <a:stretch/>
        </p:blipFill>
        <p:spPr>
          <a:xfrm>
            <a:off x="206830" y="141514"/>
            <a:ext cx="7185804" cy="3733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5" t="11102" r="18073" b="6853"/>
          <a:stretch/>
        </p:blipFill>
        <p:spPr>
          <a:xfrm>
            <a:off x="3254828" y="4129452"/>
            <a:ext cx="6062360" cy="337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36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" t="11927" r="2922" b="1493"/>
          <a:stretch/>
        </p:blipFill>
        <p:spPr>
          <a:xfrm>
            <a:off x="141515" y="159945"/>
            <a:ext cx="7199190" cy="34398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0" t="11513" r="5196" b="1494"/>
          <a:stretch/>
        </p:blipFill>
        <p:spPr>
          <a:xfrm>
            <a:off x="2340428" y="3719574"/>
            <a:ext cx="7364512" cy="366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86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/>
        </p:nvSpPr>
        <p:spPr>
          <a:xfrm>
            <a:off x="5032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</p:txBody>
      </p:sp>
      <p:sp>
        <p:nvSpPr>
          <p:cNvPr id="276" name="Google Shape;276;p32"/>
          <p:cNvSpPr txBox="1"/>
          <p:nvPr/>
        </p:nvSpPr>
        <p:spPr>
          <a:xfrm>
            <a:off x="503237" y="1563687"/>
            <a:ext cx="7514328" cy="51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353695" marR="5080" indent="-341630">
              <a:spcBef>
                <a:spcPts val="95"/>
              </a:spcBef>
              <a:buFont typeface="Tahoma"/>
              <a:buChar char="•"/>
              <a:tabLst>
                <a:tab pos="35369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Calmify</a:t>
            </a:r>
            <a:r>
              <a:rPr lang="en-US" sz="2000" spc="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holistic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stress-</a:t>
            </a:r>
            <a:r>
              <a:rPr lang="en-US" sz="2000" dirty="0">
                <a:latin typeface="Times New Roman"/>
                <a:cs typeface="Times New Roman"/>
              </a:rPr>
              <a:t>relief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offering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multiple </a:t>
            </a:r>
            <a:r>
              <a:rPr lang="en-US" sz="2000" dirty="0">
                <a:latin typeface="Times New Roman"/>
                <a:cs typeface="Times New Roman"/>
              </a:rPr>
              <a:t>therapy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options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like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yoga,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meditation,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laughter,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professional </a:t>
            </a:r>
            <a:r>
              <a:rPr lang="en-US" sz="2000" dirty="0">
                <a:latin typeface="Times New Roman"/>
                <a:cs typeface="Times New Roman"/>
              </a:rPr>
              <a:t>consultations.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addresses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gaps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existing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mental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health </a:t>
            </a:r>
            <a:r>
              <a:rPr lang="en-US" sz="2000" dirty="0">
                <a:latin typeface="Times New Roman"/>
                <a:cs typeface="Times New Roman"/>
              </a:rPr>
              <a:t>solutions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providing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free,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engaging,</a:t>
            </a:r>
            <a:r>
              <a:rPr lang="en-US" sz="2000" spc="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accessible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resources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ages.</a:t>
            </a:r>
            <a:r>
              <a:rPr lang="en-US" sz="2000" spc="1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ensures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user-friendly </a:t>
            </a:r>
            <a:r>
              <a:rPr lang="en-US" sz="2000" dirty="0">
                <a:latin typeface="Times New Roman"/>
                <a:cs typeface="Times New Roman"/>
              </a:rPr>
              <a:t>experience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through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intuitive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design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diverse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content.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With </a:t>
            </a:r>
            <a:r>
              <a:rPr lang="en-US" sz="2000" dirty="0">
                <a:latin typeface="Times New Roman"/>
                <a:cs typeface="Times New Roman"/>
              </a:rPr>
              <a:t>continuous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updates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improvements,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Calmify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enhances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mental </a:t>
            </a:r>
            <a:r>
              <a:rPr lang="en-US" sz="2000" spc="-25" dirty="0">
                <a:latin typeface="Times New Roman"/>
                <a:cs typeface="Times New Roman"/>
              </a:rPr>
              <a:t>well-</a:t>
            </a:r>
            <a:r>
              <a:rPr lang="en-US" sz="2000" dirty="0">
                <a:latin typeface="Times New Roman"/>
                <a:cs typeface="Times New Roman"/>
              </a:rPr>
              <a:t>being</a:t>
            </a:r>
            <a:r>
              <a:rPr lang="en-US" sz="2000" spc="8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effectively.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spcBef>
                <a:spcPts val="515"/>
              </a:spcBef>
              <a:buFont typeface="Tahoma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353695" indent="-340995">
              <a:buFont typeface="Tahoma"/>
              <a:buChar char="•"/>
              <a:tabLst>
                <a:tab pos="35369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Overall,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serves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as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valuable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tool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stress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management</a:t>
            </a:r>
            <a:r>
              <a:rPr lang="en-US" sz="2000" spc="6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and</a:t>
            </a:r>
            <a:endParaRPr lang="en-US" sz="2000" dirty="0">
              <a:latin typeface="Times New Roman"/>
              <a:cs typeface="Times New Roman"/>
            </a:endParaRPr>
          </a:p>
          <a:p>
            <a:pPr marL="353695"/>
            <a:r>
              <a:rPr lang="en-US" sz="2000" dirty="0">
                <a:latin typeface="Times New Roman"/>
                <a:cs typeface="Times New Roman"/>
              </a:rPr>
              <a:t>emotional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wellness.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sz="2000" b="0" i="0" u="none" dirty="0">
              <a:solidFill>
                <a:schemeClr val="dk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/>
        </p:nvSpPr>
        <p:spPr>
          <a:xfrm>
            <a:off x="539750" y="0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83" name="Google Shape;283;p33"/>
          <p:cNvSpPr txBox="1"/>
          <p:nvPr/>
        </p:nvSpPr>
        <p:spPr>
          <a:xfrm>
            <a:off x="503237" y="1563687"/>
            <a:ext cx="9071100" cy="51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539750" y="940973"/>
            <a:ext cx="8677200" cy="56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[1.]	Schulz, Emily K.. 2021. "Managing Anxiety and Stress Holistically: Vedic Wisdom from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Management System". Journal of Anxiety &amp; Depression. </a:t>
            </a:r>
          </a:p>
          <a:p>
            <a:pPr lvl="0" algn="just">
              <a:buSzPts val="24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[2.]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Jhaveri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McGonigal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Becker,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Christel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Benoliel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Nandam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Soncin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Lisa-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Dounia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Kotwas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Bernard, Christopher,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Bartolomei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F.. 2023. "Stress and Epilepsy: Towards Understanding of Neurobiological Mechanisms for Better Management". </a:t>
            </a:r>
          </a:p>
          <a:p>
            <a:pPr lvl="0" algn="just">
              <a:buSzPts val="24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[3.]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Jimnez-Ocaa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Alvaro A., Pantoja,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Valderrama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Mario,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Giraldo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Luis Felipe. 2023. "A Systematic Review of Technology-Aided Stress Management Systems: Automatic Measurement, Detection and Control". Institute of Electrical and Electronics Engineers. </a:t>
            </a:r>
          </a:p>
          <a:p>
            <a:pPr lvl="0" algn="just">
              <a:buSzPts val="24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[4.]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Anagnostou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Drigas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Athanasios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2022. "Mobile Applications for stress management". Federal University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Grosso. </a:t>
            </a:r>
          </a:p>
          <a:p>
            <a:pPr lvl="0" algn="just">
              <a:buSzPts val="24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SzPts val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[5.]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Børøsund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Elin,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Cecilie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Clark, Matthew M, Ehlers, Shawna L,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Andrykowski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Michael 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Sleveland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Hilde Renate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Sætre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Bergland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Anne,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Solberg. 2019. "Pilot testing an app-based stress management intervention for cancer survivors". Translational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Medicine.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/>
        </p:nvSpPr>
        <p:spPr>
          <a:xfrm>
            <a:off x="647700" y="30575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You...!!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683</Words>
  <Application>Microsoft Office PowerPoint</Application>
  <PresentationFormat>Custom</PresentationFormat>
  <Paragraphs>113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Noto Sans Symbols</vt:lpstr>
      <vt:lpstr>Tahoma</vt:lpstr>
      <vt:lpstr>Times New Roman</vt:lpstr>
      <vt:lpstr>Trebuchet MS</vt:lpstr>
      <vt:lpstr>Facet</vt:lpstr>
      <vt:lpstr>Facet</vt:lpstr>
      <vt:lpstr>PowerPoint Presentation</vt:lpstr>
      <vt:lpstr>PowerPoint Presentation</vt:lpstr>
      <vt:lpstr>PowerPoint Presentation</vt:lpstr>
      <vt:lpstr> Problem statement </vt:lpstr>
      <vt:lpstr>Literature Survey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</dc:creator>
  <cp:lastModifiedBy>Sandeep</cp:lastModifiedBy>
  <cp:revision>13</cp:revision>
  <dcterms:modified xsi:type="dcterms:W3CDTF">2025-03-19T08:00:59Z</dcterms:modified>
</cp:coreProperties>
</file>